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1"/>
  </p:normalViewPr>
  <p:slideViewPr>
    <p:cSldViewPr snapToGrid="0">
      <p:cViewPr varScale="1">
        <p:scale>
          <a:sx n="100" d="100"/>
          <a:sy n="100" d="100"/>
        </p:scale>
        <p:origin x="119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470D8-A8EA-A3C6-1912-1A618A931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868B6-37C5-87FB-A38B-4EA4F64E7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6FE1E-FD8A-5A53-9F04-67DC0BF45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694A-1585-2B41-B94D-43CABF5F50FF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99210-4B72-C092-EB6C-C99537F37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FDDA0-3FD3-8003-AC25-4C54433E8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2147-6F4E-7F49-83E5-24696E15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63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F05D9-4D72-B6C5-8942-2D0A42D0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ABF97-EB1E-B9FD-C7C8-EEBBD457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C0AC3-1CF5-5454-6C2D-1F9B9D856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694A-1585-2B41-B94D-43CABF5F50FF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ECF9B-CF07-6E4D-F594-358C655EB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18FB2-6118-E8CC-C80D-F0F52AB51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2147-6F4E-7F49-83E5-24696E15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52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DAF0B-CDB4-2584-DCCD-DCA75FFC5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70DC8-2139-DBB6-9262-7A79AA4AF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3533E-1975-1157-DB05-00ADA4B0B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694A-1585-2B41-B94D-43CABF5F50FF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39FD8-506C-2C13-75E9-5B1D24B2D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B74AD-02C2-D3E4-3C44-FED82FD51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2147-6F4E-7F49-83E5-24696E15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889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BA2D3-B402-6C8B-6B8C-B6C9D8E3C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54E5F-A491-D835-6885-31BBE162BB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C4207-D776-FEC8-1935-4EE64BB1E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691D3-A145-D5E7-BD6A-8C06E1EC7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694A-1585-2B41-B94D-43CABF5F50FF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99C08-C93F-1E77-0113-1EE3D5A17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35A79-D755-3BBC-67AE-DC6DDEB7D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2147-6F4E-7F49-83E5-24696E15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668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A4BB-C699-035F-0391-E9A7C02B3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44CE2-721B-39E5-3EF9-C38F42711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D63E5-EC5A-C522-54BD-145C62DAB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02982-B53B-D0DD-4CD1-3A42DCC7A1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1EEC8A-FA49-041B-3917-46D5994345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4BF317-7C3F-18D2-E65C-3150D61BC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694A-1585-2B41-B94D-43CABF5F50FF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3F7ECA-6778-732E-D627-01A061680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B8516B-93FF-1CA1-1D89-A6253DA34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2147-6F4E-7F49-83E5-24696E15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31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EDFF0-5DD7-FE87-68AE-A1D0D6553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6AD8ED-64CE-D547-B744-8A5AEC9A6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694A-1585-2B41-B94D-43CABF5F50FF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C39462-E20F-2D7A-9730-78D07710D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6A3FE-9A87-E604-5FC0-45A2991E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2147-6F4E-7F49-83E5-24696E15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76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710C31-45BB-4CDD-EF65-23C80FFF7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694A-1585-2B41-B94D-43CABF5F50FF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D3A3E6-47D1-1493-F6AB-E6E838785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5F782-2CB6-7AAD-DE4D-541E2361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2147-6F4E-7F49-83E5-24696E15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35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D8796-22B2-41F2-DED4-97E5B3964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E2E3A-320B-CB95-F739-50B207273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0D015-91D5-A28F-654C-F7D475310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48554D-1827-98F2-B81F-84D39B4FF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694A-1585-2B41-B94D-43CABF5F50FF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675CC3-28CC-D76D-7494-F0ACEEF6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0F429-BF59-CC30-4019-647936383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2147-6F4E-7F49-83E5-24696E15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30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DA541-E6C0-C385-8E83-9C2A068B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12DC23-1E4D-4B18-BB93-332D76F162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B9B28A-44FA-A858-A7CD-4D1E547BFF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C89D0F-2C6B-9DC1-0562-46963875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694A-1585-2B41-B94D-43CABF5F50FF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A661E-B8A5-1995-DF49-12A08199F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6DB3E-42DA-9E6D-A11F-251875E1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2147-6F4E-7F49-83E5-24696E15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6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CF73-41C8-2B54-F80D-128EAF070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0D480A-1B7E-459B-9252-1B85CD1F5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2E499-DB9F-964B-20BB-75BEE5436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694A-1585-2B41-B94D-43CABF5F50FF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6E07C-D4B1-B1B1-7FFA-B228F41D3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B8432-96DE-D505-AA10-AA01A0EA5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2147-6F4E-7F49-83E5-24696E15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901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62120B-72BD-2B6E-E095-D787DEF9C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3EF4DE-E87C-452B-79AA-02B29439F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111AB-EC9F-748F-F3C9-DDC9F06C4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0694A-1585-2B41-B94D-43CABF5F50FF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918B2-E18D-D24D-DFF5-DA971CF51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0EC23-572E-863A-8FE3-CCF84677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2147-6F4E-7F49-83E5-24696E15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039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C7239C-E13D-A3FB-774D-E944CB38F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14BCF-37D5-F81D-DAC8-BBCEB086F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D3222-F6A0-2E38-2BE5-F1906B877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B0694A-1585-2B41-B94D-43CABF5F50FF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7759A-94D5-BFE1-09CF-A8F67CF38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28E5D-2D4D-1824-66F8-4C2D01263A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AE2147-6F4E-7F49-83E5-24696E15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11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673039-3C1D-A62F-4DA9-D4C493638936}"/>
              </a:ext>
            </a:extLst>
          </p:cNvPr>
          <p:cNvSpPr/>
          <p:nvPr/>
        </p:nvSpPr>
        <p:spPr>
          <a:xfrm>
            <a:off x="3757421" y="0"/>
            <a:ext cx="467715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/>
              <a:t>Figure 1</a:t>
            </a:r>
            <a:endParaRPr lang="en-US" sz="3200" b="1" dirty="0">
              <a:solidFill>
                <a:schemeClr val="tx1"/>
              </a:solidFill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31DA6DE-F740-47BF-4402-6EA9A7FA28CD}"/>
              </a:ext>
            </a:extLst>
          </p:cNvPr>
          <p:cNvGrpSpPr/>
          <p:nvPr/>
        </p:nvGrpSpPr>
        <p:grpSpPr>
          <a:xfrm>
            <a:off x="218843" y="952500"/>
            <a:ext cx="11754313" cy="5693065"/>
            <a:chOff x="1295400" y="1857345"/>
            <a:chExt cx="10310445" cy="4719393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80ED0B5-7B4F-3961-69A2-41816672B69B}"/>
                </a:ext>
              </a:extLst>
            </p:cNvPr>
            <p:cNvSpPr/>
            <p:nvPr/>
          </p:nvSpPr>
          <p:spPr>
            <a:xfrm>
              <a:off x="8460712" y="4943625"/>
              <a:ext cx="3145132" cy="723274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rgbClr val="1D9A78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4DB6EFB-B9D4-847C-FBAD-737016FE480C}"/>
                </a:ext>
              </a:extLst>
            </p:cNvPr>
            <p:cNvSpPr txBox="1"/>
            <p:nvPr/>
          </p:nvSpPr>
          <p:spPr>
            <a:xfrm>
              <a:off x="1295400" y="1857345"/>
              <a:ext cx="44522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Full Model Pipeline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7B3CA77-0E6C-7DDE-6D12-2C1AEECEE088}"/>
                </a:ext>
              </a:extLst>
            </p:cNvPr>
            <p:cNvSpPr/>
            <p:nvPr/>
          </p:nvSpPr>
          <p:spPr>
            <a:xfrm>
              <a:off x="1295402" y="2289885"/>
              <a:ext cx="4452254" cy="723274"/>
            </a:xfrm>
            <a:prstGeom prst="rect">
              <a:avLst/>
            </a:prstGeom>
            <a:solidFill>
              <a:srgbClr val="F4F9F1"/>
            </a:solidFill>
            <a:ln w="12700" cap="flat" cmpd="sng" algn="ctr">
              <a:solidFill>
                <a:srgbClr val="1D9A78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Input: Amino Acid Sequences </a:t>
              </a:r>
              <a:b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(265 AAs)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3AD6D97-3D45-E370-FCF7-1331C0BC6BDE}"/>
                </a:ext>
              </a:extLst>
            </p:cNvPr>
            <p:cNvSpPr/>
            <p:nvPr/>
          </p:nvSpPr>
          <p:spPr>
            <a:xfrm>
              <a:off x="1295402" y="3174465"/>
              <a:ext cx="4452254" cy="723274"/>
            </a:xfrm>
            <a:prstGeom prst="rect">
              <a:avLst/>
            </a:prstGeom>
            <a:solidFill>
              <a:srgbClr val="F4F9F1"/>
            </a:solidFill>
            <a:ln w="12700" cap="flat" cmpd="sng" algn="ctr">
              <a:solidFill>
                <a:srgbClr val="1D9A78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150 M Parameter ESM2 Model Embeddings </a:t>
              </a:r>
              <a:b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(265 AAs X 640 Emb. Dimension)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4D0D3BC-E987-7555-EAA6-0D64AAF4B257}"/>
                </a:ext>
              </a:extLst>
            </p:cNvPr>
            <p:cNvSpPr/>
            <p:nvPr/>
          </p:nvSpPr>
          <p:spPr>
            <a:xfrm>
              <a:off x="1295402" y="4059045"/>
              <a:ext cx="1783250" cy="723274"/>
            </a:xfrm>
            <a:prstGeom prst="rect">
              <a:avLst/>
            </a:prstGeom>
            <a:solidFill>
              <a:srgbClr val="F4F9F1"/>
            </a:solidFill>
            <a:ln w="12700" cap="flat" cmpd="sng" algn="ctr">
              <a:solidFill>
                <a:srgbClr val="1D9A78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Global Mean </a:t>
              </a:r>
              <a:b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(640 Emb.)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E5A0667-3AF3-3ACC-9E48-8E66676D2D4A}"/>
                </a:ext>
              </a:extLst>
            </p:cNvPr>
            <p:cNvSpPr/>
            <p:nvPr/>
          </p:nvSpPr>
          <p:spPr>
            <a:xfrm>
              <a:off x="3255500" y="4059045"/>
              <a:ext cx="2492158" cy="723274"/>
            </a:xfrm>
            <a:prstGeom prst="rect">
              <a:avLst/>
            </a:prstGeom>
            <a:solidFill>
              <a:srgbClr val="F4F9F1"/>
            </a:solidFill>
            <a:ln w="12700" cap="flat" cmpd="sng" algn="ctr">
              <a:solidFill>
                <a:srgbClr val="1D9A78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Local Mutation Window</a:t>
              </a:r>
              <a:b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(24 AAs X 640 Emb.)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CC13EB8-6782-1614-2A67-9F4EFADCA9C0}"/>
                </a:ext>
              </a:extLst>
            </p:cNvPr>
            <p:cNvSpPr txBox="1"/>
            <p:nvPr/>
          </p:nvSpPr>
          <p:spPr>
            <a:xfrm>
              <a:off x="3023883" y="4194625"/>
              <a:ext cx="283871" cy="4521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+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A3CADE1-2269-658A-78D3-5173AFA29AEC}"/>
                </a:ext>
              </a:extLst>
            </p:cNvPr>
            <p:cNvSpPr/>
            <p:nvPr/>
          </p:nvSpPr>
          <p:spPr>
            <a:xfrm>
              <a:off x="1295402" y="4943625"/>
              <a:ext cx="4452254" cy="723274"/>
            </a:xfrm>
            <a:prstGeom prst="rect">
              <a:avLst/>
            </a:prstGeom>
            <a:solidFill>
              <a:srgbClr val="8BC145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Secondary Model</a:t>
              </a:r>
              <a:b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800" b="0" i="1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(see RHS for architectures)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6723E4D-FC49-6CF4-3C35-5AC3C72F9335}"/>
                </a:ext>
              </a:extLst>
            </p:cNvPr>
            <p:cNvSpPr/>
            <p:nvPr/>
          </p:nvSpPr>
          <p:spPr>
            <a:xfrm>
              <a:off x="1295402" y="5828205"/>
              <a:ext cx="4452254" cy="723274"/>
            </a:xfrm>
            <a:prstGeom prst="rect">
              <a:avLst/>
            </a:prstGeom>
            <a:solidFill>
              <a:srgbClr val="F4F9F1"/>
            </a:solidFill>
            <a:ln w="12700" cap="flat" cmpd="sng" algn="ctr">
              <a:solidFill>
                <a:srgbClr val="1D9A78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Predicted Sequence Fitness</a:t>
              </a:r>
              <a:b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8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(1 Fitness Value)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4C5C932-B222-8332-A025-9824D9FCCDD5}"/>
                </a:ext>
              </a:extLst>
            </p:cNvPr>
            <p:cNvSpPr txBox="1"/>
            <p:nvPr/>
          </p:nvSpPr>
          <p:spPr>
            <a:xfrm>
              <a:off x="5918479" y="1857345"/>
              <a:ext cx="56873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Secondary Model Architectures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61877B9-0DDB-CB16-CF7F-67E0FC065B57}"/>
                </a:ext>
              </a:extLst>
            </p:cNvPr>
            <p:cNvSpPr/>
            <p:nvPr/>
          </p:nvSpPr>
          <p:spPr>
            <a:xfrm>
              <a:off x="6096000" y="2289885"/>
              <a:ext cx="406832" cy="1607854"/>
            </a:xfrm>
            <a:prstGeom prst="rect">
              <a:avLst/>
            </a:prstGeom>
            <a:solidFill>
              <a:srgbClr val="466221"/>
            </a:solidFill>
            <a:ln w="12700" cap="flat" cmpd="sng" algn="ctr">
              <a:solidFill>
                <a:srgbClr val="1D9A78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vert="vert27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Flat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409B706-5664-C7B6-FF9C-E69230B90DB5}"/>
                </a:ext>
              </a:extLst>
            </p:cNvPr>
            <p:cNvSpPr/>
            <p:nvPr/>
          </p:nvSpPr>
          <p:spPr>
            <a:xfrm>
              <a:off x="6096672" y="4059045"/>
              <a:ext cx="406832" cy="2492434"/>
            </a:xfrm>
            <a:prstGeom prst="rect">
              <a:avLst/>
            </a:prstGeom>
            <a:solidFill>
              <a:srgbClr val="466221"/>
            </a:solidFill>
            <a:ln w="12700" cap="flat" cmpd="sng" algn="ctr">
              <a:solidFill>
                <a:srgbClr val="1D9A78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vert="vert27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Fused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B509C26-F15D-90A7-1374-AF9C95A7B2CA}"/>
                </a:ext>
              </a:extLst>
            </p:cNvPr>
            <p:cNvSpPr/>
            <p:nvPr/>
          </p:nvSpPr>
          <p:spPr>
            <a:xfrm>
              <a:off x="6680353" y="2289884"/>
              <a:ext cx="4925492" cy="723274"/>
            </a:xfrm>
            <a:prstGeom prst="rect">
              <a:avLst/>
            </a:prstGeom>
            <a:solidFill>
              <a:srgbClr val="F4F9F1"/>
            </a:solidFill>
            <a:ln w="12700" cap="flat" cmpd="sng" algn="ctr">
              <a:solidFill>
                <a:srgbClr val="1D9A78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Global and Local Features Flattened </a:t>
              </a:r>
              <a:b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(16 K Features)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4CEE23B-CE7D-19DB-E0E7-D0632B7BB1CD}"/>
                </a:ext>
              </a:extLst>
            </p:cNvPr>
            <p:cNvSpPr/>
            <p:nvPr/>
          </p:nvSpPr>
          <p:spPr>
            <a:xfrm>
              <a:off x="6680352" y="3174465"/>
              <a:ext cx="2194560" cy="723274"/>
            </a:xfrm>
            <a:prstGeom prst="rect">
              <a:avLst/>
            </a:prstGeom>
            <a:solidFill>
              <a:srgbClr val="F4F9F1"/>
            </a:solidFill>
            <a:ln w="12700" cap="flat" cmpd="sng" algn="ctr">
              <a:solidFill>
                <a:srgbClr val="1D9A78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All Feature</a:t>
              </a:r>
              <a:b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Ridge Regression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FAE967D-B4C1-AB04-443F-E1B408676A9E}"/>
                </a:ext>
              </a:extLst>
            </p:cNvPr>
            <p:cNvSpPr/>
            <p:nvPr/>
          </p:nvSpPr>
          <p:spPr>
            <a:xfrm>
              <a:off x="9411285" y="3174465"/>
              <a:ext cx="2194560" cy="723274"/>
            </a:xfrm>
            <a:prstGeom prst="rect">
              <a:avLst/>
            </a:prstGeom>
            <a:solidFill>
              <a:srgbClr val="F4F9F1"/>
            </a:solidFill>
            <a:ln w="12700" cap="flat" cmpd="sng" algn="ctr">
              <a:solidFill>
                <a:srgbClr val="1D9A78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All Feature</a:t>
              </a:r>
              <a:b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MLP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7CB2B5D-80C5-814F-F023-EB06FE0A7ABA}"/>
                </a:ext>
              </a:extLst>
            </p:cNvPr>
            <p:cNvSpPr txBox="1"/>
            <p:nvPr/>
          </p:nvSpPr>
          <p:spPr>
            <a:xfrm>
              <a:off x="8795351" y="3310045"/>
              <a:ext cx="695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or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5B1CDF5-8A43-5F8E-EAB5-1E4DDDE3C39F}"/>
                </a:ext>
              </a:extLst>
            </p:cNvPr>
            <p:cNvSpPr/>
            <p:nvPr/>
          </p:nvSpPr>
          <p:spPr>
            <a:xfrm>
              <a:off x="6680351" y="4053834"/>
              <a:ext cx="1499006" cy="723274"/>
            </a:xfrm>
            <a:prstGeom prst="rect">
              <a:avLst/>
            </a:prstGeom>
            <a:solidFill>
              <a:srgbClr val="F4F9F1"/>
            </a:solidFill>
            <a:ln w="12700" cap="flat" cmpd="sng" algn="ctr">
              <a:solidFill>
                <a:srgbClr val="1D9A78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Global Mean (640 Emb.)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1A891C6-C9E9-21DC-1D6E-B0F1225EFC06}"/>
                </a:ext>
              </a:extLst>
            </p:cNvPr>
            <p:cNvSpPr/>
            <p:nvPr/>
          </p:nvSpPr>
          <p:spPr>
            <a:xfrm>
              <a:off x="8460711" y="4053834"/>
              <a:ext cx="3145133" cy="723274"/>
            </a:xfrm>
            <a:prstGeom prst="rect">
              <a:avLst/>
            </a:prstGeom>
            <a:solidFill>
              <a:srgbClr val="F4F9F1"/>
            </a:solidFill>
            <a:ln w="12700" cap="flat" cmpd="sng" algn="ctr">
              <a:solidFill>
                <a:srgbClr val="1D9A78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Local Mutation Window</a:t>
              </a:r>
              <a:b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(24 AAs X 640 Emb.)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B0831C0-C99F-4929-43D4-FCBC748E7326}"/>
                </a:ext>
              </a:extLst>
            </p:cNvPr>
            <p:cNvSpPr/>
            <p:nvPr/>
          </p:nvSpPr>
          <p:spPr>
            <a:xfrm>
              <a:off x="6677836" y="4943625"/>
              <a:ext cx="1499006" cy="723274"/>
            </a:xfrm>
            <a:prstGeom prst="rect">
              <a:avLst/>
            </a:prstGeom>
            <a:solidFill>
              <a:srgbClr val="F4F9F1"/>
            </a:solidFill>
            <a:ln w="12700" cap="flat" cmpd="sng" algn="ctr">
              <a:solidFill>
                <a:srgbClr val="1D9A78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Global Feature MLP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2C6995E-5DC8-E534-784D-EF5E831A776C}"/>
                </a:ext>
              </a:extLst>
            </p:cNvPr>
            <p:cNvSpPr/>
            <p:nvPr/>
          </p:nvSpPr>
          <p:spPr>
            <a:xfrm>
              <a:off x="8460712" y="5186597"/>
              <a:ext cx="963711" cy="480301"/>
            </a:xfrm>
            <a:prstGeom prst="rect">
              <a:avLst/>
            </a:prstGeom>
            <a:solidFill>
              <a:srgbClr val="F4F9F1"/>
            </a:solidFill>
            <a:ln w="12700" cap="flat" cmpd="sng" algn="ctr">
              <a:solidFill>
                <a:srgbClr val="1D9A78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MLP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E5AE3DC-612E-A998-D220-4E2280C815F0}"/>
                </a:ext>
              </a:extLst>
            </p:cNvPr>
            <p:cNvSpPr/>
            <p:nvPr/>
          </p:nvSpPr>
          <p:spPr>
            <a:xfrm>
              <a:off x="9551423" y="5186597"/>
              <a:ext cx="963711" cy="480301"/>
            </a:xfrm>
            <a:prstGeom prst="rect">
              <a:avLst/>
            </a:prstGeom>
            <a:solidFill>
              <a:srgbClr val="F4F9F1"/>
            </a:solidFill>
            <a:ln w="12700" cap="flat" cmpd="sng" algn="ctr">
              <a:solidFill>
                <a:srgbClr val="1D9A78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CNN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F7CA4BB-99D6-E7F8-F219-1B51BA2D27CA}"/>
                </a:ext>
              </a:extLst>
            </p:cNvPr>
            <p:cNvSpPr/>
            <p:nvPr/>
          </p:nvSpPr>
          <p:spPr>
            <a:xfrm>
              <a:off x="10642134" y="5186597"/>
              <a:ext cx="963711" cy="480301"/>
            </a:xfrm>
            <a:prstGeom prst="rect">
              <a:avLst/>
            </a:prstGeom>
            <a:solidFill>
              <a:srgbClr val="F4F9F1"/>
            </a:solidFill>
            <a:ln w="12700" cap="flat" cmpd="sng" algn="ctr">
              <a:solidFill>
                <a:srgbClr val="1D9A78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MHA </a:t>
              </a:r>
              <a:b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+ FF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D2D96A6-8B33-F597-BDD2-E8EEF6A86C7A}"/>
                </a:ext>
              </a:extLst>
            </p:cNvPr>
            <p:cNvSpPr txBox="1"/>
            <p:nvPr/>
          </p:nvSpPr>
          <p:spPr>
            <a:xfrm>
              <a:off x="8460711" y="4881128"/>
              <a:ext cx="3145132" cy="349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Local Model – One of: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36995E4-A8C8-70BF-15A9-C98AC43E3953}"/>
                </a:ext>
              </a:extLst>
            </p:cNvPr>
            <p:cNvSpPr/>
            <p:nvPr/>
          </p:nvSpPr>
          <p:spPr>
            <a:xfrm>
              <a:off x="6677836" y="5828205"/>
              <a:ext cx="4928008" cy="723274"/>
            </a:xfrm>
            <a:prstGeom prst="rect">
              <a:avLst/>
            </a:prstGeom>
            <a:solidFill>
              <a:srgbClr val="F4F9F1"/>
            </a:solidFill>
            <a:ln w="12700" cap="flat" cmpd="sng" algn="ctr">
              <a:solidFill>
                <a:srgbClr val="1D9A78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Fusion MLP</a:t>
              </a:r>
              <a:b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8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(Combines output of global and local models)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4F829FB9-15E9-E7A6-1ED8-CF4626ACB0C4}"/>
                </a:ext>
              </a:extLst>
            </p:cNvPr>
            <p:cNvCxnSpPr>
              <a:cxnSpLocks/>
              <a:stCxn id="47" idx="2"/>
              <a:endCxn id="48" idx="0"/>
            </p:cNvCxnSpPr>
            <p:nvPr/>
          </p:nvCxnSpPr>
          <p:spPr>
            <a:xfrm>
              <a:off x="3521529" y="3013159"/>
              <a:ext cx="0" cy="161306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0" name="Straight Arrow Connector 52">
              <a:extLst>
                <a:ext uri="{FF2B5EF4-FFF2-40B4-BE49-F238E27FC236}">
                  <a16:creationId xmlns:a16="http://schemas.microsoft.com/office/drawing/2014/main" id="{93D02E4B-F0F4-E553-405A-8BAB120D0C85}"/>
                </a:ext>
              </a:extLst>
            </p:cNvPr>
            <p:cNvCxnSpPr>
              <a:cxnSpLocks/>
              <a:stCxn id="48" idx="2"/>
              <a:endCxn id="49" idx="0"/>
            </p:cNvCxnSpPr>
            <p:nvPr/>
          </p:nvCxnSpPr>
          <p:spPr>
            <a:xfrm rot="5400000">
              <a:off x="2773625" y="3311141"/>
              <a:ext cx="161306" cy="1334502"/>
            </a:xfrm>
            <a:prstGeom prst="bentConnector3">
              <a:avLst>
                <a:gd name="adj1" fmla="val 50000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1" name="Straight Arrow Connector 55">
              <a:extLst>
                <a:ext uri="{FF2B5EF4-FFF2-40B4-BE49-F238E27FC236}">
                  <a16:creationId xmlns:a16="http://schemas.microsoft.com/office/drawing/2014/main" id="{8BF060FD-85A0-B900-2180-5E468E376B2A}"/>
                </a:ext>
              </a:extLst>
            </p:cNvPr>
            <p:cNvCxnSpPr>
              <a:cxnSpLocks/>
              <a:stCxn id="48" idx="2"/>
              <a:endCxn id="50" idx="0"/>
            </p:cNvCxnSpPr>
            <p:nvPr/>
          </p:nvCxnSpPr>
          <p:spPr>
            <a:xfrm rot="16200000" flipH="1">
              <a:off x="3930902" y="3488367"/>
              <a:ext cx="161306" cy="980050"/>
            </a:xfrm>
            <a:prstGeom prst="bentConnector3">
              <a:avLst>
                <a:gd name="adj1" fmla="val 50000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2" name="Straight Arrow Connector 52">
              <a:extLst>
                <a:ext uri="{FF2B5EF4-FFF2-40B4-BE49-F238E27FC236}">
                  <a16:creationId xmlns:a16="http://schemas.microsoft.com/office/drawing/2014/main" id="{B95016FA-1B76-1047-F54E-FAE42B23CDBA}"/>
                </a:ext>
              </a:extLst>
            </p:cNvPr>
            <p:cNvCxnSpPr>
              <a:cxnSpLocks/>
              <a:stCxn id="49" idx="2"/>
              <a:endCxn id="52" idx="0"/>
            </p:cNvCxnSpPr>
            <p:nvPr/>
          </p:nvCxnSpPr>
          <p:spPr>
            <a:xfrm rot="16200000" flipH="1">
              <a:off x="2773625" y="4195721"/>
              <a:ext cx="161306" cy="1334502"/>
            </a:xfrm>
            <a:prstGeom prst="bentConnector3">
              <a:avLst>
                <a:gd name="adj1" fmla="val 50000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3" name="Straight Arrow Connector 55">
              <a:extLst>
                <a:ext uri="{FF2B5EF4-FFF2-40B4-BE49-F238E27FC236}">
                  <a16:creationId xmlns:a16="http://schemas.microsoft.com/office/drawing/2014/main" id="{7E8E15B4-E5BE-FBF4-1184-267FEBC9AE27}"/>
                </a:ext>
              </a:extLst>
            </p:cNvPr>
            <p:cNvCxnSpPr>
              <a:cxnSpLocks/>
              <a:stCxn id="50" idx="2"/>
              <a:endCxn id="52" idx="0"/>
            </p:cNvCxnSpPr>
            <p:nvPr/>
          </p:nvCxnSpPr>
          <p:spPr>
            <a:xfrm rot="5400000">
              <a:off x="3930902" y="4372947"/>
              <a:ext cx="161306" cy="980050"/>
            </a:xfrm>
            <a:prstGeom prst="bentConnector3">
              <a:avLst>
                <a:gd name="adj1" fmla="val 50000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C1A4E50E-3653-410C-AC7A-DB539F0B372E}"/>
                </a:ext>
              </a:extLst>
            </p:cNvPr>
            <p:cNvCxnSpPr>
              <a:cxnSpLocks/>
              <a:stCxn id="52" idx="2"/>
              <a:endCxn id="53" idx="0"/>
            </p:cNvCxnSpPr>
            <p:nvPr/>
          </p:nvCxnSpPr>
          <p:spPr>
            <a:xfrm>
              <a:off x="3521529" y="5666899"/>
              <a:ext cx="0" cy="161306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BFFD0D0-B450-99BA-6BC7-03041846CFD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975786"/>
              <a:ext cx="5486400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</p:cxnSp>
        <p:cxnSp>
          <p:nvCxnSpPr>
            <p:cNvPr id="76" name="Straight Arrow Connector 55">
              <a:extLst>
                <a:ext uri="{FF2B5EF4-FFF2-40B4-BE49-F238E27FC236}">
                  <a16:creationId xmlns:a16="http://schemas.microsoft.com/office/drawing/2014/main" id="{A540600E-7CB3-7022-26D7-3EADABD4E314}"/>
                </a:ext>
              </a:extLst>
            </p:cNvPr>
            <p:cNvCxnSpPr>
              <a:cxnSpLocks/>
              <a:stCxn id="57" idx="2"/>
              <a:endCxn id="59" idx="0"/>
            </p:cNvCxnSpPr>
            <p:nvPr/>
          </p:nvCxnSpPr>
          <p:spPr>
            <a:xfrm rot="16200000" flipH="1">
              <a:off x="9745179" y="2411078"/>
              <a:ext cx="161307" cy="1365466"/>
            </a:xfrm>
            <a:prstGeom prst="bentConnector3">
              <a:avLst>
                <a:gd name="adj1" fmla="val 50000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7" name="Straight Arrow Connector 55">
              <a:extLst>
                <a:ext uri="{FF2B5EF4-FFF2-40B4-BE49-F238E27FC236}">
                  <a16:creationId xmlns:a16="http://schemas.microsoft.com/office/drawing/2014/main" id="{A7165943-0F4D-52D6-BAE6-5AE92329CF0A}"/>
                </a:ext>
              </a:extLst>
            </p:cNvPr>
            <p:cNvCxnSpPr>
              <a:cxnSpLocks/>
              <a:stCxn id="57" idx="2"/>
              <a:endCxn id="58" idx="0"/>
            </p:cNvCxnSpPr>
            <p:nvPr/>
          </p:nvCxnSpPr>
          <p:spPr>
            <a:xfrm rot="5400000">
              <a:off x="8379713" y="2411078"/>
              <a:ext cx="161307" cy="1365467"/>
            </a:xfrm>
            <a:prstGeom prst="bentConnector3">
              <a:avLst>
                <a:gd name="adj1" fmla="val 50000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4E855D57-99A2-D4EE-C170-FC0C6FA1390B}"/>
                </a:ext>
              </a:extLst>
            </p:cNvPr>
            <p:cNvCxnSpPr>
              <a:cxnSpLocks/>
              <a:stCxn id="61" idx="2"/>
              <a:endCxn id="63" idx="0"/>
            </p:cNvCxnSpPr>
            <p:nvPr/>
          </p:nvCxnSpPr>
          <p:spPr>
            <a:xfrm flipH="1">
              <a:off x="7427339" y="4777108"/>
              <a:ext cx="2515" cy="166517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76A588DA-4521-3C62-9B80-2C0718D7F6FF}"/>
                </a:ext>
              </a:extLst>
            </p:cNvPr>
            <p:cNvCxnSpPr>
              <a:cxnSpLocks/>
              <a:stCxn id="62" idx="2"/>
              <a:endCxn id="67" idx="0"/>
            </p:cNvCxnSpPr>
            <p:nvPr/>
          </p:nvCxnSpPr>
          <p:spPr>
            <a:xfrm flipH="1">
              <a:off x="10033277" y="4777108"/>
              <a:ext cx="1" cy="10402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0" name="Straight Arrow Connector 55">
              <a:extLst>
                <a:ext uri="{FF2B5EF4-FFF2-40B4-BE49-F238E27FC236}">
                  <a16:creationId xmlns:a16="http://schemas.microsoft.com/office/drawing/2014/main" id="{A9ED457E-53F3-8806-7C50-AFF06D60B87B}"/>
                </a:ext>
              </a:extLst>
            </p:cNvPr>
            <p:cNvCxnSpPr>
              <a:cxnSpLocks/>
              <a:stCxn id="63" idx="2"/>
              <a:endCxn id="68" idx="0"/>
            </p:cNvCxnSpPr>
            <p:nvPr/>
          </p:nvCxnSpPr>
          <p:spPr>
            <a:xfrm rot="16200000" flipH="1">
              <a:off x="8203936" y="4890301"/>
              <a:ext cx="161306" cy="1714501"/>
            </a:xfrm>
            <a:prstGeom prst="bentConnector3">
              <a:avLst>
                <a:gd name="adj1" fmla="val 50000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81" name="Trapezoid 89">
              <a:extLst>
                <a:ext uri="{FF2B5EF4-FFF2-40B4-BE49-F238E27FC236}">
                  <a16:creationId xmlns:a16="http://schemas.microsoft.com/office/drawing/2014/main" id="{07A3E178-12C2-C151-9363-3C26F782EA51}"/>
                </a:ext>
              </a:extLst>
            </p:cNvPr>
            <p:cNvSpPr/>
            <p:nvPr/>
          </p:nvSpPr>
          <p:spPr>
            <a:xfrm rot="16200000">
              <a:off x="3776266" y="4251323"/>
              <a:ext cx="4291122" cy="359708"/>
            </a:xfrm>
            <a:custGeom>
              <a:avLst/>
              <a:gdLst>
                <a:gd name="csX0" fmla="*/ 0 w 1552353"/>
                <a:gd name="csY0" fmla="*/ 353358 h 353358"/>
                <a:gd name="csX1" fmla="*/ 423372 w 1552353"/>
                <a:gd name="csY1" fmla="*/ 0 h 353358"/>
                <a:gd name="csX2" fmla="*/ 1128981 w 1552353"/>
                <a:gd name="csY2" fmla="*/ 0 h 353358"/>
                <a:gd name="csX3" fmla="*/ 1552353 w 1552353"/>
                <a:gd name="csY3" fmla="*/ 353358 h 353358"/>
                <a:gd name="csX4" fmla="*/ 0 w 1552353"/>
                <a:gd name="csY4" fmla="*/ 353358 h 353358"/>
                <a:gd name="csX0" fmla="*/ 0 w 3795822"/>
                <a:gd name="csY0" fmla="*/ 353358 h 353358"/>
                <a:gd name="csX1" fmla="*/ 423372 w 3795822"/>
                <a:gd name="csY1" fmla="*/ 0 h 353358"/>
                <a:gd name="csX2" fmla="*/ 1128981 w 3795822"/>
                <a:gd name="csY2" fmla="*/ 0 h 353358"/>
                <a:gd name="csX3" fmla="*/ 3795822 w 3795822"/>
                <a:gd name="csY3" fmla="*/ 353358 h 353358"/>
                <a:gd name="csX4" fmla="*/ 0 w 3795822"/>
                <a:gd name="csY4" fmla="*/ 353358 h 353358"/>
                <a:gd name="csX0" fmla="*/ 0 w 3795822"/>
                <a:gd name="csY0" fmla="*/ 353358 h 359708"/>
                <a:gd name="csX1" fmla="*/ 423372 w 3795822"/>
                <a:gd name="csY1" fmla="*/ 0 h 359708"/>
                <a:gd name="csX2" fmla="*/ 1128981 w 3795822"/>
                <a:gd name="csY2" fmla="*/ 0 h 359708"/>
                <a:gd name="csX3" fmla="*/ 3795822 w 3795822"/>
                <a:gd name="csY3" fmla="*/ 359708 h 359708"/>
                <a:gd name="csX4" fmla="*/ 0 w 3795822"/>
                <a:gd name="csY4" fmla="*/ 353358 h 359708"/>
                <a:gd name="csX0" fmla="*/ 0 w 4291122"/>
                <a:gd name="csY0" fmla="*/ 359708 h 359708"/>
                <a:gd name="csX1" fmla="*/ 918672 w 4291122"/>
                <a:gd name="csY1" fmla="*/ 0 h 359708"/>
                <a:gd name="csX2" fmla="*/ 1624281 w 4291122"/>
                <a:gd name="csY2" fmla="*/ 0 h 359708"/>
                <a:gd name="csX3" fmla="*/ 4291122 w 4291122"/>
                <a:gd name="csY3" fmla="*/ 359708 h 359708"/>
                <a:gd name="csX4" fmla="*/ 0 w 4291122"/>
                <a:gd name="csY4" fmla="*/ 359708 h 3597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91122" h="359708">
                  <a:moveTo>
                    <a:pt x="0" y="359708"/>
                  </a:moveTo>
                  <a:lnTo>
                    <a:pt x="918672" y="0"/>
                  </a:lnTo>
                  <a:lnTo>
                    <a:pt x="1624281" y="0"/>
                  </a:lnTo>
                  <a:lnTo>
                    <a:pt x="4291122" y="359708"/>
                  </a:lnTo>
                  <a:lnTo>
                    <a:pt x="0" y="359708"/>
                  </a:lnTo>
                  <a:close/>
                </a:path>
              </a:pathLst>
            </a:custGeom>
            <a:gradFill>
              <a:gsLst>
                <a:gs pos="32000">
                  <a:srgbClr val="99B673"/>
                </a:gs>
                <a:gs pos="32000">
                  <a:srgbClr val="99B673"/>
                </a:gs>
                <a:gs pos="0">
                  <a:srgbClr val="699331"/>
                </a:gs>
                <a:gs pos="100000">
                  <a:sysClr val="window" lastClr="FFFFFF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2" name="Straight Arrow Connector 55">
              <a:extLst>
                <a:ext uri="{FF2B5EF4-FFF2-40B4-BE49-F238E27FC236}">
                  <a16:creationId xmlns:a16="http://schemas.microsoft.com/office/drawing/2014/main" id="{FB2D0097-8001-57FC-BEAB-EFB6D0AED145}"/>
                </a:ext>
              </a:extLst>
            </p:cNvPr>
            <p:cNvCxnSpPr>
              <a:cxnSpLocks/>
              <a:stCxn id="65" idx="2"/>
              <a:endCxn id="68" idx="0"/>
            </p:cNvCxnSpPr>
            <p:nvPr/>
          </p:nvCxnSpPr>
          <p:spPr>
            <a:xfrm rot="5400000">
              <a:off x="9506907" y="5301832"/>
              <a:ext cx="161307" cy="891439"/>
            </a:xfrm>
            <a:prstGeom prst="bentConnector3">
              <a:avLst>
                <a:gd name="adj1" fmla="val 50000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177176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230D3-D901-A0F2-3A29-A2D757D48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C599FF-EF79-BC77-3C28-88D5398E6A44}"/>
              </a:ext>
            </a:extLst>
          </p:cNvPr>
          <p:cNvSpPr/>
          <p:nvPr/>
        </p:nvSpPr>
        <p:spPr>
          <a:xfrm>
            <a:off x="3757421" y="0"/>
            <a:ext cx="467715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/>
              <a:t>Figure 2</a:t>
            </a: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3D1B75-C1FA-E1E3-3252-B5A5777F1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049" y="620960"/>
            <a:ext cx="6565901" cy="623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933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BD2C2-6513-7DBF-EB9C-46F8251C9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45EEAE-A6C5-FB67-2E80-10F162ED374B}"/>
              </a:ext>
            </a:extLst>
          </p:cNvPr>
          <p:cNvSpPr/>
          <p:nvPr/>
        </p:nvSpPr>
        <p:spPr>
          <a:xfrm>
            <a:off x="3757421" y="0"/>
            <a:ext cx="467715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/>
              <a:t>Figure 3</a:t>
            </a: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1FF8E2-5B42-CD85-F64D-B0BC00561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285" y="577173"/>
            <a:ext cx="7447430" cy="628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403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FD34A-91F3-8E23-F0FF-E419383C6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B0ADA4-9070-B349-86D6-8225AAFB4BF4}"/>
              </a:ext>
            </a:extLst>
          </p:cNvPr>
          <p:cNvSpPr/>
          <p:nvPr/>
        </p:nvSpPr>
        <p:spPr>
          <a:xfrm>
            <a:off x="3757421" y="0"/>
            <a:ext cx="467715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/>
              <a:t>Figure 4</a:t>
            </a: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9DF087-B95F-63D8-DEC5-0F67B03B7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406" y="552328"/>
            <a:ext cx="9159188" cy="630567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8125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F5360-726B-B6BE-744C-78AF26EA8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D4F07D-4BB5-0417-3D19-E13B5EE5730C}"/>
              </a:ext>
            </a:extLst>
          </p:cNvPr>
          <p:cNvSpPr/>
          <p:nvPr/>
        </p:nvSpPr>
        <p:spPr>
          <a:xfrm>
            <a:off x="3757421" y="0"/>
            <a:ext cx="467715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/>
              <a:t>Figure 5</a:t>
            </a: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972040-2031-0815-5EFF-E7897532B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258" y="584775"/>
            <a:ext cx="9133484" cy="624714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7216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8B67A-9B6A-C15F-A377-BE876E775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095EA6-68F6-0714-A3FD-4EBB4CC1321C}"/>
              </a:ext>
            </a:extLst>
          </p:cNvPr>
          <p:cNvSpPr/>
          <p:nvPr/>
        </p:nvSpPr>
        <p:spPr>
          <a:xfrm>
            <a:off x="3757421" y="0"/>
            <a:ext cx="467715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/>
              <a:t>Figure 6</a:t>
            </a: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5D511F-22DF-0272-8CFE-5F95F0AF9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544130"/>
            <a:ext cx="9271000" cy="631387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7209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D7BCF-0C4C-B54A-EC1D-E732E73D8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31ED46-D347-7C3C-BBE0-3529FAC44D1B}"/>
              </a:ext>
            </a:extLst>
          </p:cNvPr>
          <p:cNvSpPr/>
          <p:nvPr/>
        </p:nvSpPr>
        <p:spPr>
          <a:xfrm>
            <a:off x="3757421" y="0"/>
            <a:ext cx="467715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/>
              <a:t>Figure 7</a:t>
            </a: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418292-A0FD-878C-0431-8AB100C0C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76" y="1248807"/>
            <a:ext cx="11874048" cy="436038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5415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150</Words>
  <Application>Microsoft Macintosh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Tzelios</dc:creator>
  <cp:lastModifiedBy>Peter Tzelios</cp:lastModifiedBy>
  <cp:revision>1</cp:revision>
  <dcterms:created xsi:type="dcterms:W3CDTF">2026-05-05T03:44:15Z</dcterms:created>
  <dcterms:modified xsi:type="dcterms:W3CDTF">2026-05-05T03:47:59Z</dcterms:modified>
</cp:coreProperties>
</file>